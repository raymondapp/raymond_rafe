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368CC-3EEB-4654-88AC-02FADA1D5A78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51EC2-B04D-4A64-94AA-6A08A43BA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633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368CC-3EEB-4654-88AC-02FADA1D5A78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51EC2-B04D-4A64-94AA-6A08A43BA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923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368CC-3EEB-4654-88AC-02FADA1D5A78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51EC2-B04D-4A64-94AA-6A08A43BA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669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368CC-3EEB-4654-88AC-02FADA1D5A78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51EC2-B04D-4A64-94AA-6A08A43BA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567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368CC-3EEB-4654-88AC-02FADA1D5A78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51EC2-B04D-4A64-94AA-6A08A43BA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496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368CC-3EEB-4654-88AC-02FADA1D5A78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51EC2-B04D-4A64-94AA-6A08A43BA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902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368CC-3EEB-4654-88AC-02FADA1D5A78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51EC2-B04D-4A64-94AA-6A08A43BA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816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368CC-3EEB-4654-88AC-02FADA1D5A78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51EC2-B04D-4A64-94AA-6A08A43BA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849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368CC-3EEB-4654-88AC-02FADA1D5A78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51EC2-B04D-4A64-94AA-6A08A43BA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613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368CC-3EEB-4654-88AC-02FADA1D5A78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51EC2-B04D-4A64-94AA-6A08A43BA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11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368CC-3EEB-4654-88AC-02FADA1D5A78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51EC2-B04D-4A64-94AA-6A08A43BA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682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368CC-3EEB-4654-88AC-02FADA1D5A78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51EC2-B04D-4A64-94AA-6A08A43BA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263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 rot="16200000" flipV="1">
            <a:off x="859558" y="-866965"/>
            <a:ext cx="508001" cy="2227114"/>
            <a:chOff x="-1" y="1065553"/>
            <a:chExt cx="381001" cy="2227114"/>
          </a:xfrm>
        </p:grpSpPr>
        <p:sp>
          <p:nvSpPr>
            <p:cNvPr id="6" name="Rectangle 5"/>
            <p:cNvSpPr/>
            <p:nvPr/>
          </p:nvSpPr>
          <p:spPr>
            <a:xfrm>
              <a:off x="0" y="2911667"/>
              <a:ext cx="381000" cy="381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0" y="2559257"/>
              <a:ext cx="381000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0" y="2208553"/>
              <a:ext cx="381000" cy="381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-1" y="1827554"/>
              <a:ext cx="381000" cy="381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0" y="1446553"/>
              <a:ext cx="381000" cy="381000"/>
            </a:xfrm>
            <a:prstGeom prst="rect">
              <a:avLst/>
            </a:prstGeom>
            <a:solidFill>
              <a:srgbClr val="0F07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0" y="1065553"/>
              <a:ext cx="381000" cy="381000"/>
            </a:xfrm>
            <a:prstGeom prst="rect">
              <a:avLst/>
            </a:prstGeom>
            <a:solidFill>
              <a:srgbClr val="430D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</p:grp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2B2A28"/>
              </a:clrFrom>
              <a:clrTo>
                <a:srgbClr val="2B2A2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7" t="10600" r="5392" b="12821"/>
          <a:stretch/>
        </p:blipFill>
        <p:spPr>
          <a:xfrm>
            <a:off x="8077200" y="6070427"/>
            <a:ext cx="1150480" cy="78757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974" y="76201"/>
            <a:ext cx="1016827" cy="42439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76913" y="1982937"/>
            <a:ext cx="8434395" cy="378565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just"/>
            <a:r>
              <a:rPr lang="en-US" sz="1600" dirty="0">
                <a:latin typeface="Cambria" panose="02040503050406030204" pitchFamily="18" charset="0"/>
              </a:rPr>
              <a:t>The nominees </a:t>
            </a:r>
            <a:r>
              <a:rPr lang="en-US" sz="1600" dirty="0" smtClean="0">
                <a:latin typeface="Cambria" panose="02040503050406030204" pitchFamily="18" charset="0"/>
              </a:rPr>
              <a:t>and/or </a:t>
            </a:r>
            <a:r>
              <a:rPr lang="en-US" sz="1600" dirty="0">
                <a:latin typeface="Cambria" panose="02040503050406030204" pitchFamily="18" charset="0"/>
              </a:rPr>
              <a:t>awardees of last </a:t>
            </a:r>
            <a:r>
              <a:rPr lang="en-US" sz="1600" dirty="0" smtClean="0">
                <a:latin typeface="Cambria" panose="02040503050406030204" pitchFamily="18" charset="0"/>
              </a:rPr>
              <a:t>Prism</a:t>
            </a:r>
            <a:r>
              <a:rPr lang="en-US" sz="1600" dirty="0" smtClean="0">
                <a:latin typeface="Cambria" panose="02040503050406030204" pitchFamily="18" charset="0"/>
              </a:rPr>
              <a:t> </a:t>
            </a:r>
            <a:r>
              <a:rPr lang="en-US" sz="1600" dirty="0">
                <a:latin typeface="Cambria" panose="02040503050406030204" pitchFamily="18" charset="0"/>
              </a:rPr>
              <a:t>are eligible for nomination for Q</a:t>
            </a:r>
            <a:r>
              <a:rPr lang="en-US" sz="1600" dirty="0" smtClean="0">
                <a:latin typeface="Cambria" panose="02040503050406030204" pitchFamily="18" charset="0"/>
              </a:rPr>
              <a:t>uarter </a:t>
            </a:r>
            <a:r>
              <a:rPr lang="en-US" sz="1600" dirty="0" smtClean="0">
                <a:latin typeface="Cambria" panose="02040503050406030204" pitchFamily="18" charset="0"/>
              </a:rPr>
              <a:t>4 &amp; Quarter 1 </a:t>
            </a:r>
            <a:r>
              <a:rPr lang="en-US" sz="1600" dirty="0" smtClean="0">
                <a:latin typeface="Cambria" panose="02040503050406030204" pitchFamily="18" charset="0"/>
              </a:rPr>
              <a:t> </a:t>
            </a:r>
            <a:r>
              <a:rPr lang="en-US" sz="1600" dirty="0" smtClean="0">
                <a:latin typeface="Cambria" panose="02040503050406030204" pitchFamily="18" charset="0"/>
              </a:rPr>
              <a:t>together based </a:t>
            </a:r>
            <a:r>
              <a:rPr lang="en-US" sz="1600" dirty="0">
                <a:latin typeface="Cambria" panose="02040503050406030204" pitchFamily="18" charset="0"/>
              </a:rPr>
              <a:t>on their contributions specific during the eligibility period. </a:t>
            </a:r>
            <a:endParaRPr lang="en-US" sz="1600" dirty="0" smtClean="0">
              <a:latin typeface="Cambria" panose="02040503050406030204" pitchFamily="18" charset="0"/>
            </a:endParaRPr>
          </a:p>
          <a:p>
            <a:pPr marL="174625" indent="-174625" algn="just">
              <a:buFont typeface="Wingdings" panose="05000000000000000000" pitchFamily="2" charset="2"/>
              <a:buChar char="§"/>
            </a:pPr>
            <a:endParaRPr lang="en-US" sz="1600" dirty="0">
              <a:latin typeface="Cambria" panose="02040503050406030204" pitchFamily="18" charset="0"/>
            </a:endParaRPr>
          </a:p>
          <a:p>
            <a:pPr marL="174625" indent="-174625" algn="just"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Cambria" panose="02040503050406030204" pitchFamily="18" charset="0"/>
              </a:rPr>
              <a:t>All </a:t>
            </a:r>
            <a:r>
              <a:rPr lang="en-US" sz="1600" dirty="0">
                <a:latin typeface="Cambria" panose="02040503050406030204" pitchFamily="18" charset="0"/>
              </a:rPr>
              <a:t>the award categories are up to </a:t>
            </a:r>
            <a:r>
              <a:rPr lang="en-US" sz="1600" dirty="0" smtClean="0">
                <a:latin typeface="Cambria" panose="02040503050406030204" pitchFamily="18" charset="0"/>
              </a:rPr>
              <a:t>Deputy General Manager Level </a:t>
            </a:r>
            <a:r>
              <a:rPr lang="en-US" sz="1600" dirty="0">
                <a:latin typeface="Cambria" panose="02040503050406030204" pitchFamily="18" charset="0"/>
              </a:rPr>
              <a:t>only. The nominations are open for retail hub employees </a:t>
            </a:r>
            <a:r>
              <a:rPr lang="en-US" sz="1600" dirty="0" smtClean="0">
                <a:latin typeface="Cambria" panose="02040503050406030204" pitchFamily="18" charset="0"/>
              </a:rPr>
              <a:t>too.</a:t>
            </a:r>
          </a:p>
          <a:p>
            <a:pPr marL="174625" indent="-174625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Cambria" panose="02040503050406030204" pitchFamily="18" charset="0"/>
              </a:rPr>
              <a:t>Please </a:t>
            </a:r>
            <a:r>
              <a:rPr lang="en-US" sz="1600" dirty="0">
                <a:latin typeface="Cambria" panose="02040503050406030204" pitchFamily="18" charset="0"/>
              </a:rPr>
              <a:t>refer to specific guidelines for nominations in each category as given below</a:t>
            </a:r>
            <a:r>
              <a:rPr lang="en-US" sz="1600" dirty="0" smtClean="0">
                <a:latin typeface="Cambria" panose="02040503050406030204" pitchFamily="18" charset="0"/>
              </a:rPr>
              <a:t>.</a:t>
            </a:r>
          </a:p>
          <a:p>
            <a:pPr marL="174625" indent="-174625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Cambria" panose="02040503050406030204" pitchFamily="18" charset="0"/>
              </a:rPr>
              <a:t>AWARD NOMINATION PROCESS: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 smtClean="0">
                <a:latin typeface="Cambria" panose="02040503050406030204" pitchFamily="18" charset="0"/>
              </a:rPr>
              <a:t>Nominations </a:t>
            </a:r>
            <a:r>
              <a:rPr lang="en-US" sz="1600" dirty="0">
                <a:latin typeface="Cambria" panose="02040503050406030204" pitchFamily="18" charset="0"/>
              </a:rPr>
              <a:t>to be sent by the Reporting </a:t>
            </a:r>
            <a:r>
              <a:rPr lang="en-US" sz="1600" dirty="0" smtClean="0">
                <a:latin typeface="Cambria" panose="02040503050406030204" pitchFamily="18" charset="0"/>
              </a:rPr>
              <a:t>Managers to their respective HOD’s / Functional </a:t>
            </a:r>
            <a:r>
              <a:rPr lang="en-US" sz="1600" dirty="0" smtClean="0">
                <a:latin typeface="Cambria" panose="02040503050406030204" pitchFamily="18" charset="0"/>
              </a:rPr>
              <a:t>Heads on the Prism Portal</a:t>
            </a:r>
            <a:endParaRPr lang="en-US" sz="1600" dirty="0">
              <a:latin typeface="Cambria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>
                <a:latin typeface="Cambria" panose="02040503050406030204" pitchFamily="18" charset="0"/>
              </a:rPr>
              <a:t>Each </a:t>
            </a:r>
            <a:r>
              <a:rPr lang="en-US" sz="1600" dirty="0" smtClean="0">
                <a:latin typeface="Cambria" panose="02040503050406030204" pitchFamily="18" charset="0"/>
              </a:rPr>
              <a:t>Functional Head </a:t>
            </a:r>
            <a:r>
              <a:rPr lang="en-US" sz="1600" dirty="0">
                <a:latin typeface="Cambria" panose="02040503050406030204" pitchFamily="18" charset="0"/>
              </a:rPr>
              <a:t>to shortlist the final entries at their </a:t>
            </a:r>
            <a:r>
              <a:rPr lang="en-US" sz="1600" dirty="0" smtClean="0">
                <a:latin typeface="Cambria" panose="02040503050406030204" pitchFamily="18" charset="0"/>
              </a:rPr>
              <a:t>level and share completed forms of final </a:t>
            </a:r>
            <a:r>
              <a:rPr lang="en-US" sz="1600" dirty="0" smtClean="0">
                <a:latin typeface="Cambria" panose="02040503050406030204" pitchFamily="18" charset="0"/>
              </a:rPr>
              <a:t>shortlists on the portal </a:t>
            </a:r>
            <a:endParaRPr lang="en-US" sz="1600" dirty="0">
              <a:latin typeface="Cambria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 smtClean="0">
                <a:latin typeface="Cambria" panose="02040503050406030204" pitchFamily="18" charset="0"/>
              </a:rPr>
              <a:t>CXO Team (Bibek, Adhir, Shantiswarup &amp; Ravi) to finalize the winners for each of their functions along with Business HR.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16" name="Title 14"/>
          <p:cNvSpPr>
            <a:spLocks noGrp="1"/>
          </p:cNvSpPr>
          <p:nvPr>
            <p:ph type="title"/>
          </p:nvPr>
        </p:nvSpPr>
        <p:spPr>
          <a:xfrm>
            <a:off x="304800" y="558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GENERAL GUIDELINES</a:t>
            </a:r>
            <a:endParaRPr lang="en-US" sz="3600" b="1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994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2B2A28"/>
              </a:clrFrom>
              <a:clrTo>
                <a:srgbClr val="2B2A2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7" t="10600" r="5392" b="12821"/>
          <a:stretch/>
        </p:blipFill>
        <p:spPr>
          <a:xfrm>
            <a:off x="8001000" y="5994227"/>
            <a:ext cx="1150480" cy="78757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974" y="195734"/>
            <a:ext cx="1016827" cy="424393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 rot="16200000" flipV="1">
            <a:off x="859558" y="-867022"/>
            <a:ext cx="508001" cy="2227114"/>
            <a:chOff x="-1" y="1065553"/>
            <a:chExt cx="381001" cy="2227114"/>
          </a:xfrm>
        </p:grpSpPr>
        <p:sp>
          <p:nvSpPr>
            <p:cNvPr id="17" name="Rectangle 16"/>
            <p:cNvSpPr/>
            <p:nvPr/>
          </p:nvSpPr>
          <p:spPr>
            <a:xfrm>
              <a:off x="0" y="2911667"/>
              <a:ext cx="381000" cy="381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0" y="2559257"/>
              <a:ext cx="381000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0" y="2208553"/>
              <a:ext cx="381000" cy="381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-1" y="1827554"/>
              <a:ext cx="381000" cy="381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0" y="1446553"/>
              <a:ext cx="381000" cy="381000"/>
            </a:xfrm>
            <a:prstGeom prst="rect">
              <a:avLst/>
            </a:prstGeom>
            <a:solidFill>
              <a:srgbClr val="0F07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0" y="1065553"/>
              <a:ext cx="381000" cy="381000"/>
            </a:xfrm>
            <a:prstGeom prst="rect">
              <a:avLst/>
            </a:prstGeom>
            <a:solidFill>
              <a:srgbClr val="430D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301060" y="1600200"/>
            <a:ext cx="846194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ELIGIBILITY CRITERIA:</a:t>
            </a:r>
          </a:p>
          <a:p>
            <a:endParaRPr lang="en-US" sz="1600" dirty="0" smtClean="0">
              <a:solidFill>
                <a:srgbClr val="FF0000"/>
              </a:solidFill>
              <a:latin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Cambria" panose="02040503050406030204" pitchFamily="18" charset="0"/>
              </a:rPr>
              <a:t>The Achievements should be beyond the usual performance KRA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Cambria" panose="02040503050406030204" pitchFamily="18" charset="0"/>
              </a:rPr>
              <a:t>Exhibition of Culture </a:t>
            </a:r>
            <a:r>
              <a:rPr lang="en-US" sz="1400" dirty="0" smtClean="0">
                <a:latin typeface="Cambria" panose="02040503050406030204" pitchFamily="18" charset="0"/>
              </a:rPr>
              <a:t>Pillars / Culture Behaviors </a:t>
            </a:r>
            <a:r>
              <a:rPr lang="en-US" sz="1400" dirty="0">
                <a:latin typeface="Cambria" panose="02040503050406030204" pitchFamily="18" charset="0"/>
              </a:rPr>
              <a:t>beyond the work </a:t>
            </a:r>
            <a:r>
              <a:rPr lang="en-US" sz="1400" dirty="0" smtClean="0">
                <a:latin typeface="Cambria" panose="02040503050406030204" pitchFamily="18" charset="0"/>
              </a:rPr>
              <a:t>teams </a:t>
            </a:r>
          </a:p>
          <a:p>
            <a:endParaRPr lang="en-US" sz="1400" dirty="0" smtClean="0">
              <a:solidFill>
                <a:srgbClr val="FF0000"/>
              </a:solidFill>
              <a:latin typeface="Cambria" panose="02040503050406030204" pitchFamily="18" charset="0"/>
            </a:endParaRPr>
          </a:p>
          <a:p>
            <a:endParaRPr lang="en-US" sz="1400" dirty="0">
              <a:solidFill>
                <a:srgbClr val="FF0000"/>
              </a:solidFill>
              <a:latin typeface="Cambria" panose="02040503050406030204" pitchFamily="18" charset="0"/>
            </a:endParaRPr>
          </a:p>
          <a:p>
            <a:endParaRPr lang="en-US" sz="1400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25" name="Title 14"/>
          <p:cNvSpPr>
            <a:spLocks noGrp="1"/>
          </p:cNvSpPr>
          <p:nvPr>
            <p:ph type="title"/>
          </p:nvPr>
        </p:nvSpPr>
        <p:spPr>
          <a:xfrm>
            <a:off x="304800" y="407930"/>
            <a:ext cx="8229600" cy="989071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CULTURE CHAMP</a:t>
            </a:r>
            <a:endParaRPr lang="en-US" sz="3600" b="1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026" y="2209801"/>
            <a:ext cx="2571575" cy="31430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Rectangle 1"/>
          <p:cNvSpPr/>
          <p:nvPr/>
        </p:nvSpPr>
        <p:spPr>
          <a:xfrm>
            <a:off x="301974" y="3182780"/>
            <a:ext cx="404142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TOTAL NO OF WINNERS BASED ON FUNCTIONS:</a:t>
            </a:r>
            <a:endParaRPr lang="en-US" sz="1400" b="1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837334"/>
              </p:ext>
            </p:extLst>
          </p:nvPr>
        </p:nvGraphicFramePr>
        <p:xfrm>
          <a:off x="381002" y="3720462"/>
          <a:ext cx="3886199" cy="24517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66999"/>
                <a:gridCol w="1219200"/>
              </a:tblGrid>
              <a:tr h="52519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Department</a:t>
                      </a:r>
                      <a:endParaRPr lang="en-US" sz="1500" b="1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Culture Champ</a:t>
                      </a:r>
                      <a:endParaRPr lang="en-US" sz="1500" b="1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</a:tr>
              <a:tr h="38530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Human Resources</a:t>
                      </a:r>
                      <a:endParaRPr lang="en-US" sz="1500" b="0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  <a:endParaRPr lang="en-US" sz="1500" b="0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</a:tr>
              <a:tr h="38530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Finance</a:t>
                      </a:r>
                      <a:endParaRPr lang="en-US" sz="1500" b="0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  <a:endParaRPr lang="en-US" sz="1500" b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</a:tr>
              <a:tr h="38530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Digital Consumer Centre</a:t>
                      </a:r>
                      <a:endParaRPr lang="en-US" sz="1500" b="0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US" sz="1500" b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</a:tr>
              <a:tr h="38530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Marketing</a:t>
                      </a:r>
                      <a:endParaRPr lang="en-US" sz="1500" b="0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US" sz="1500" b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</a:tr>
              <a:tr h="38530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Grand Total</a:t>
                      </a:r>
                      <a:endParaRPr lang="en-US" sz="1500" b="0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</a:t>
                      </a:r>
                      <a:endParaRPr lang="en-US" sz="1500" b="0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7714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186</Words>
  <Application>Microsoft Office PowerPoint</Application>
  <PresentationFormat>On-screen Show (4:3)</PresentationFormat>
  <Paragraphs>28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GENERAL GUIDELINES</vt:lpstr>
      <vt:lpstr>CULTURE CHAMP</vt:lpstr>
    </vt:vector>
  </TitlesOfParts>
  <Company>Raymond.in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GUIDELINES</dc:title>
  <dc:creator>Consultant - Megha Karkare</dc:creator>
  <cp:lastModifiedBy>Consultant - Megha Karkare</cp:lastModifiedBy>
  <cp:revision>1</cp:revision>
  <dcterms:created xsi:type="dcterms:W3CDTF">2019-06-10T12:18:17Z</dcterms:created>
  <dcterms:modified xsi:type="dcterms:W3CDTF">2019-06-10T12:20:15Z</dcterms:modified>
</cp:coreProperties>
</file>