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15"/>
  </p:notes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B9D2E-5283-49F0-91F4-69EE7B6BFAC7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35228-A24F-453A-9267-184485248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7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535228-A24F-453A-9267-1844852486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71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213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299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090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137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639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247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385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3825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06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867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865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431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710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8424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101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6392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3363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8713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282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122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656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0750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6527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643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115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579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785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5123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4539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4378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9647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31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4004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8409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8973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0543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8400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5753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6519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2665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5703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2785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71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00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59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79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13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459831"/>
            <a:ext cx="3505200" cy="11025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9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Frequently </a:t>
            </a:r>
          </a:p>
          <a:p>
            <a:pPr algn="r"/>
            <a:r>
              <a:rPr lang="en-US" sz="49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Asked </a:t>
            </a:r>
          </a:p>
          <a:p>
            <a:pPr algn="r"/>
            <a:r>
              <a:rPr lang="en-US" sz="49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Questions</a:t>
            </a:r>
          </a:p>
          <a:p>
            <a:pPr algn="r"/>
            <a:r>
              <a:rPr lang="en-US" sz="4900" b="1" dirty="0">
                <a:solidFill>
                  <a:srgbClr val="FFC000"/>
                </a:solidFill>
                <a:latin typeface="Candara" panose="020E0502030303020204" pitchFamily="34" charset="0"/>
              </a:rPr>
              <a:t>(</a:t>
            </a:r>
            <a:r>
              <a:rPr lang="en-US" sz="4900" b="1" dirty="0" smtClean="0">
                <a:solidFill>
                  <a:srgbClr val="FFC000"/>
                </a:solidFill>
                <a:latin typeface="Candara" panose="020E0502030303020204" pitchFamily="34" charset="0"/>
              </a:rPr>
              <a:t>FAQs)</a:t>
            </a:r>
            <a:r>
              <a:rPr lang="en-US" sz="49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 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4064" y="50589"/>
            <a:ext cx="2195736" cy="1656184"/>
            <a:chOff x="969472" y="2769620"/>
            <a:chExt cx="3435103" cy="2709678"/>
          </a:xfrm>
        </p:grpSpPr>
        <p:grpSp>
          <p:nvGrpSpPr>
            <p:cNvPr id="12" name="Group 11"/>
            <p:cNvGrpSpPr/>
            <p:nvPr/>
          </p:nvGrpSpPr>
          <p:grpSpPr>
            <a:xfrm>
              <a:off x="969472" y="2769620"/>
              <a:ext cx="3435103" cy="2709678"/>
              <a:chOff x="969472" y="2769620"/>
              <a:chExt cx="3435103" cy="2709678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9472" y="2769620"/>
                <a:ext cx="3435103" cy="2709678"/>
              </a:xfrm>
              <a:prstGeom prst="rect">
                <a:avLst/>
              </a:prstGeom>
            </p:spPr>
          </p:pic>
          <p:sp>
            <p:nvSpPr>
              <p:cNvPr id="15" name="Rectangle 14"/>
              <p:cNvSpPr/>
              <p:nvPr/>
            </p:nvSpPr>
            <p:spPr>
              <a:xfrm>
                <a:off x="2498501" y="4623515"/>
                <a:ext cx="1365161" cy="36060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2333673" y="4584721"/>
              <a:ext cx="1506828" cy="684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C9CACC"/>
                  </a:solidFill>
                </a:rPr>
                <a:t>2021</a:t>
              </a:r>
              <a:endParaRPr lang="en-US" sz="1600" b="1" dirty="0">
                <a:solidFill>
                  <a:srgbClr val="C9CA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70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 </a:t>
            </a:r>
            <a:endParaRPr lang="en-US" sz="40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241935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1. What </a:t>
            </a:r>
            <a:r>
              <a:rPr lang="en-US" sz="2000" b="1" dirty="0">
                <a:solidFill>
                  <a:srgbClr val="FFC000"/>
                </a:solidFill>
              </a:rPr>
              <a:t>is the </a:t>
            </a:r>
            <a:r>
              <a:rPr lang="en-US" sz="2000" b="1" dirty="0" smtClean="0">
                <a:solidFill>
                  <a:srgbClr val="FFC000"/>
                </a:solidFill>
              </a:rPr>
              <a:t>maximum size </a:t>
            </a:r>
            <a:r>
              <a:rPr lang="en-US" sz="2000" b="1" dirty="0">
                <a:solidFill>
                  <a:srgbClr val="FFC000"/>
                </a:solidFill>
              </a:rPr>
              <a:t>of video byte that can be uploaded?</a:t>
            </a:r>
            <a:endParaRPr lang="en-US" sz="2000" dirty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The </a:t>
            </a:r>
            <a:r>
              <a:rPr lang="en-US" sz="2000" b="1" i="1" dirty="0">
                <a:solidFill>
                  <a:schemeClr val="bg1"/>
                </a:solidFill>
              </a:rPr>
              <a:t>maximum size of </a:t>
            </a:r>
            <a:r>
              <a:rPr lang="en-US" sz="2000" b="1" i="1" dirty="0" smtClean="0">
                <a:solidFill>
                  <a:schemeClr val="bg1"/>
                </a:solidFill>
              </a:rPr>
              <a:t>video </a:t>
            </a:r>
            <a:r>
              <a:rPr lang="en-US" sz="2000" b="1" i="1" dirty="0">
                <a:solidFill>
                  <a:schemeClr val="bg1"/>
                </a:solidFill>
              </a:rPr>
              <a:t>byte can be 10 MB for </a:t>
            </a:r>
            <a:r>
              <a:rPr lang="en-US" sz="2000" b="1" i="1" dirty="0" smtClean="0">
                <a:solidFill>
                  <a:schemeClr val="bg1"/>
                </a:solidFill>
              </a:rPr>
              <a:t>upload.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2. What </a:t>
            </a:r>
            <a:r>
              <a:rPr lang="en-US" sz="2000" b="1" dirty="0">
                <a:solidFill>
                  <a:srgbClr val="FFC000"/>
                </a:solidFill>
              </a:rPr>
              <a:t>is the maximum length of video byte to be uploaded?</a:t>
            </a:r>
            <a:endParaRPr lang="en-US" sz="2000" dirty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Maximum </a:t>
            </a:r>
            <a:r>
              <a:rPr lang="en-US" sz="2000" b="1" i="1" dirty="0">
                <a:solidFill>
                  <a:schemeClr val="bg1"/>
                </a:solidFill>
              </a:rPr>
              <a:t>length of video byte should not be more than 60 seconds.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3. What </a:t>
            </a:r>
            <a:r>
              <a:rPr lang="en-US" sz="2000" b="1" dirty="0">
                <a:solidFill>
                  <a:srgbClr val="FFC000"/>
                </a:solidFill>
              </a:rPr>
              <a:t>is the </a:t>
            </a:r>
            <a:r>
              <a:rPr lang="en-US" sz="2000" b="1" dirty="0" smtClean="0">
                <a:solidFill>
                  <a:srgbClr val="FFC000"/>
                </a:solidFill>
              </a:rPr>
              <a:t>maximum size </a:t>
            </a:r>
            <a:r>
              <a:rPr lang="en-US" sz="2000" b="1" dirty="0">
                <a:solidFill>
                  <a:srgbClr val="FFC000"/>
                </a:solidFill>
              </a:rPr>
              <a:t>of photo that can be uploaded?</a:t>
            </a:r>
            <a:endParaRPr lang="en-US" sz="2000" dirty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The </a:t>
            </a:r>
            <a:r>
              <a:rPr lang="en-US" sz="2000" b="1" i="1" dirty="0">
                <a:solidFill>
                  <a:schemeClr val="bg1"/>
                </a:solidFill>
              </a:rPr>
              <a:t>maximum size of </a:t>
            </a:r>
            <a:r>
              <a:rPr lang="en-US" sz="2000" b="1" i="1" dirty="0" smtClean="0">
                <a:solidFill>
                  <a:schemeClr val="bg1"/>
                </a:solidFill>
              </a:rPr>
              <a:t>photo </a:t>
            </a:r>
            <a:r>
              <a:rPr lang="en-US" sz="2000" b="1" i="1" dirty="0">
                <a:solidFill>
                  <a:schemeClr val="bg1"/>
                </a:solidFill>
              </a:rPr>
              <a:t>can be </a:t>
            </a:r>
            <a:r>
              <a:rPr lang="en-US" sz="2000" b="1" i="1" dirty="0" smtClean="0">
                <a:solidFill>
                  <a:schemeClr val="bg1"/>
                </a:solidFill>
              </a:rPr>
              <a:t>2 </a:t>
            </a:r>
            <a:r>
              <a:rPr lang="en-US" sz="2000" b="1" i="1" dirty="0">
                <a:solidFill>
                  <a:schemeClr val="bg1"/>
                </a:solidFill>
              </a:rPr>
              <a:t>MB for upload.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4.What </a:t>
            </a:r>
            <a:r>
              <a:rPr lang="en-US" sz="2000" b="1" dirty="0">
                <a:solidFill>
                  <a:srgbClr val="FFC000"/>
                </a:solidFill>
              </a:rPr>
              <a:t>is the </a:t>
            </a:r>
            <a:r>
              <a:rPr lang="en-US" sz="2000" b="1" dirty="0" smtClean="0">
                <a:solidFill>
                  <a:srgbClr val="FFC000"/>
                </a:solidFill>
              </a:rPr>
              <a:t>maximum size </a:t>
            </a:r>
            <a:r>
              <a:rPr lang="en-US" sz="2000" b="1" dirty="0">
                <a:solidFill>
                  <a:srgbClr val="FFC000"/>
                </a:solidFill>
              </a:rPr>
              <a:t>of document that can be uploaded?</a:t>
            </a:r>
            <a:endParaRPr lang="en-US" sz="2000" dirty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The </a:t>
            </a:r>
            <a:r>
              <a:rPr lang="en-US" sz="2000" b="1" i="1" dirty="0">
                <a:solidFill>
                  <a:schemeClr val="bg1"/>
                </a:solidFill>
              </a:rPr>
              <a:t>maximum size </a:t>
            </a:r>
            <a:r>
              <a:rPr lang="en-US" sz="2000" b="1" i="1" dirty="0" smtClean="0">
                <a:solidFill>
                  <a:schemeClr val="bg1"/>
                </a:solidFill>
              </a:rPr>
              <a:t>of </a:t>
            </a:r>
            <a:r>
              <a:rPr lang="en-US" sz="2000" b="1" i="1" dirty="0">
                <a:solidFill>
                  <a:schemeClr val="bg1"/>
                </a:solidFill>
              </a:rPr>
              <a:t>document(s) can be 2 MB for upload</a:t>
            </a:r>
            <a:r>
              <a:rPr lang="en-US" sz="2000" b="1" i="1" dirty="0" smtClean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1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61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</a:t>
            </a:r>
            <a:endParaRPr lang="en-US" sz="40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2724150"/>
            <a:ext cx="8686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5. What are the type of documents that can be uploaded?</a:t>
            </a:r>
            <a:endParaRPr lang="en-US" sz="2000" dirty="0" smtClean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You can upload excel / word / power point presentation / PDF file.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>
                <a:solidFill>
                  <a:srgbClr val="FFC000"/>
                </a:solidFill>
              </a:rPr>
              <a:t>Q 6. How to upload more than 1 document?</a:t>
            </a: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More </a:t>
            </a:r>
            <a:r>
              <a:rPr lang="en-US" sz="2000" b="1" i="1" dirty="0">
                <a:solidFill>
                  <a:schemeClr val="bg1"/>
                </a:solidFill>
              </a:rPr>
              <a:t>than 1 document can be submitted by creating a </a:t>
            </a:r>
            <a:r>
              <a:rPr lang="en-US" sz="2000" b="1" i="1" dirty="0" smtClean="0">
                <a:solidFill>
                  <a:schemeClr val="bg1"/>
                </a:solidFill>
              </a:rPr>
              <a:t>ZIP file</a:t>
            </a:r>
            <a:r>
              <a:rPr lang="en-US" sz="2000" b="1" i="1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>
                <a:solidFill>
                  <a:srgbClr val="FFC000"/>
                </a:solidFill>
              </a:rPr>
              <a:t>Q 7. What is the process of uploading the photo/ video/ document?</a:t>
            </a: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To </a:t>
            </a:r>
            <a:r>
              <a:rPr lang="en-US" sz="2000" b="1" i="1" dirty="0">
                <a:solidFill>
                  <a:schemeClr val="bg1"/>
                </a:solidFill>
              </a:rPr>
              <a:t>upload any photo / video / document, you need to follow below </a:t>
            </a:r>
            <a:r>
              <a:rPr lang="en-US" sz="2000" b="1" i="1" dirty="0" smtClean="0">
                <a:solidFill>
                  <a:schemeClr val="bg1"/>
                </a:solidFill>
              </a:rPr>
              <a:t>steps: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i="1" dirty="0">
                <a:solidFill>
                  <a:srgbClr val="FFC000"/>
                </a:solidFill>
              </a:rPr>
              <a:t>Step </a:t>
            </a:r>
            <a:r>
              <a:rPr lang="en-US" sz="2000" b="1" i="1" dirty="0" smtClean="0">
                <a:solidFill>
                  <a:srgbClr val="FFC000"/>
                </a:solidFill>
              </a:rPr>
              <a:t>1:</a:t>
            </a:r>
            <a:r>
              <a:rPr lang="en-US" sz="2000" b="1" i="1" dirty="0" smtClean="0">
                <a:solidFill>
                  <a:schemeClr val="bg1"/>
                </a:solidFill>
              </a:rPr>
              <a:t> </a:t>
            </a:r>
            <a:r>
              <a:rPr lang="en-US" sz="2000" b="1" i="1" dirty="0">
                <a:solidFill>
                  <a:schemeClr val="bg1"/>
                </a:solidFill>
              </a:rPr>
              <a:t>Click on the icon for Upload Photo / Upload Video / Upload Document on the upper right hand side of the screen (Nomination Form).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rgbClr val="FFC000"/>
                </a:solidFill>
              </a:rPr>
              <a:t>Step </a:t>
            </a:r>
            <a:r>
              <a:rPr lang="en-US" sz="2000" b="1" i="1" dirty="0" smtClean="0">
                <a:solidFill>
                  <a:srgbClr val="FFC000"/>
                </a:solidFill>
              </a:rPr>
              <a:t>2:</a:t>
            </a:r>
            <a:r>
              <a:rPr lang="en-US" sz="2000" b="1" i="1" dirty="0" smtClean="0">
                <a:solidFill>
                  <a:schemeClr val="bg1"/>
                </a:solidFill>
              </a:rPr>
              <a:t> </a:t>
            </a:r>
            <a:r>
              <a:rPr lang="en-US" sz="2000" b="1" i="1" dirty="0">
                <a:solidFill>
                  <a:schemeClr val="bg1"/>
                </a:solidFill>
              </a:rPr>
              <a:t>Choose the file you want to </a:t>
            </a:r>
            <a:r>
              <a:rPr lang="en-US" sz="2000" b="1" i="1" dirty="0" smtClean="0">
                <a:solidFill>
                  <a:schemeClr val="bg1"/>
                </a:solidFill>
              </a:rPr>
              <a:t>upload.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i="1" dirty="0">
                <a:solidFill>
                  <a:srgbClr val="FFC000"/>
                </a:solidFill>
              </a:rPr>
              <a:t>Step </a:t>
            </a:r>
            <a:r>
              <a:rPr lang="en-US" sz="2000" b="1" i="1" dirty="0" smtClean="0">
                <a:solidFill>
                  <a:srgbClr val="FFC000"/>
                </a:solidFill>
              </a:rPr>
              <a:t>3:</a:t>
            </a:r>
            <a:r>
              <a:rPr lang="en-US" sz="2000" b="1" i="1" dirty="0" smtClean="0">
                <a:solidFill>
                  <a:schemeClr val="bg1"/>
                </a:solidFill>
              </a:rPr>
              <a:t> </a:t>
            </a:r>
            <a:r>
              <a:rPr lang="en-US" sz="2000" b="1" i="1" dirty="0">
                <a:solidFill>
                  <a:schemeClr val="bg1"/>
                </a:solidFill>
              </a:rPr>
              <a:t>Post the selection, a black tick will appear on the screen below the icon for which upload has been done.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2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80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</a:t>
            </a:r>
            <a:endParaRPr lang="en-US" sz="40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2266950"/>
            <a:ext cx="853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8. Who </a:t>
            </a:r>
            <a:r>
              <a:rPr lang="en-US" sz="2000" b="1" dirty="0">
                <a:solidFill>
                  <a:srgbClr val="FFC000"/>
                </a:solidFill>
              </a:rPr>
              <a:t>would be the authority to approve my nomination?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Your HOD would </a:t>
            </a:r>
            <a:r>
              <a:rPr lang="en-US" sz="2000" b="1" i="1" dirty="0">
                <a:solidFill>
                  <a:schemeClr val="bg1"/>
                </a:solidFill>
              </a:rPr>
              <a:t>be the approving authority for your nomination. While filling up the nomination form, you need to select the name of your HOD in the last section of the form. </a:t>
            </a:r>
            <a:r>
              <a:rPr lang="en-US" sz="2000" b="1" i="1" dirty="0" smtClean="0">
                <a:solidFill>
                  <a:schemeClr val="bg1"/>
                </a:solidFill>
              </a:rPr>
              <a:t>Once </a:t>
            </a:r>
            <a:r>
              <a:rPr lang="en-US" sz="2000" b="1" i="1" dirty="0">
                <a:solidFill>
                  <a:schemeClr val="bg1"/>
                </a:solidFill>
              </a:rPr>
              <a:t>you submit the form, a system generated e-mail notification will be sent to your HOD for further action on your nomination.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9. Will </a:t>
            </a:r>
            <a:r>
              <a:rPr lang="en-US" sz="2000" b="1" dirty="0">
                <a:solidFill>
                  <a:srgbClr val="FFC000"/>
                </a:solidFill>
              </a:rPr>
              <a:t>I receive a nomination confirmation?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Yes</a:t>
            </a:r>
            <a:r>
              <a:rPr lang="en-US" sz="2000" b="1" i="1" dirty="0">
                <a:solidFill>
                  <a:schemeClr val="bg1"/>
                </a:solidFill>
              </a:rPr>
              <a:t>. Once the nomination form is submitted, a system generated </a:t>
            </a:r>
            <a:r>
              <a:rPr lang="en-US" sz="2000" b="1" i="1" dirty="0" smtClean="0">
                <a:solidFill>
                  <a:schemeClr val="bg1"/>
                </a:solidFill>
              </a:rPr>
              <a:t>e-mail notification will </a:t>
            </a:r>
            <a:r>
              <a:rPr lang="en-US" sz="2000" b="1" i="1" dirty="0">
                <a:solidFill>
                  <a:schemeClr val="bg1"/>
                </a:solidFill>
              </a:rPr>
              <a:t>be sent to the nominee, Business HR and the HOD for </a:t>
            </a:r>
            <a:r>
              <a:rPr lang="en-US" sz="2000" b="1" i="1" dirty="0" smtClean="0">
                <a:solidFill>
                  <a:schemeClr val="bg1"/>
                </a:solidFill>
              </a:rPr>
              <a:t>information and </a:t>
            </a:r>
            <a:r>
              <a:rPr lang="en-US" sz="2000" b="1" i="1" dirty="0">
                <a:solidFill>
                  <a:schemeClr val="bg1"/>
                </a:solidFill>
              </a:rPr>
              <a:t>further action.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3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3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</a:t>
            </a:r>
            <a:endParaRPr lang="en-US" sz="40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2571750"/>
            <a:ext cx="853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10. What </a:t>
            </a:r>
            <a:r>
              <a:rPr lang="en-US" sz="2000" b="1" dirty="0">
                <a:solidFill>
                  <a:srgbClr val="FFC000"/>
                </a:solidFill>
              </a:rPr>
              <a:t>does the section “Reference” means?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“Reference</a:t>
            </a:r>
            <a:r>
              <a:rPr lang="en-US" sz="2000" b="1" i="1" dirty="0">
                <a:solidFill>
                  <a:schemeClr val="bg1"/>
                </a:solidFill>
              </a:rPr>
              <a:t>” means the name of any internal employee who can be contacted by the award committee or the jury panel to gather additional information about the nomination. You need to mention </a:t>
            </a:r>
            <a:r>
              <a:rPr lang="en-US" sz="2000" b="1" i="1" dirty="0" smtClean="0">
                <a:solidFill>
                  <a:schemeClr val="bg1"/>
                </a:solidFill>
              </a:rPr>
              <a:t>mandatory 1 </a:t>
            </a:r>
            <a:r>
              <a:rPr lang="en-US" sz="2000" b="1" i="1" dirty="0">
                <a:solidFill>
                  <a:schemeClr val="bg1"/>
                </a:solidFill>
              </a:rPr>
              <a:t>reference </a:t>
            </a:r>
            <a:r>
              <a:rPr lang="en-US" sz="2000" b="1" i="1" dirty="0" smtClean="0">
                <a:solidFill>
                  <a:schemeClr val="bg1"/>
                </a:solidFill>
              </a:rPr>
              <a:t>name for your nomination.   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11. What </a:t>
            </a:r>
            <a:r>
              <a:rPr lang="en-US" sz="2000" b="1" dirty="0">
                <a:solidFill>
                  <a:srgbClr val="FFC000"/>
                </a:solidFill>
              </a:rPr>
              <a:t>is the use of the tab “All Nominations” on the home screen of the portal?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Under </a:t>
            </a:r>
            <a:r>
              <a:rPr lang="en-US" sz="2000" b="1" i="1" dirty="0">
                <a:solidFill>
                  <a:schemeClr val="bg1"/>
                </a:solidFill>
              </a:rPr>
              <a:t>the tab “All Nominations”, you can see all the nomination forms submitted by you at a glance. All the saved nomination forms will be available in the editable version unless it has been submitted. Post </a:t>
            </a:r>
            <a:r>
              <a:rPr lang="en-US" sz="2000" b="1" i="1" dirty="0" smtClean="0">
                <a:solidFill>
                  <a:schemeClr val="bg1"/>
                </a:solidFill>
              </a:rPr>
              <a:t>submission</a:t>
            </a:r>
            <a:r>
              <a:rPr lang="en-US" sz="2000" b="1" i="1" dirty="0">
                <a:solidFill>
                  <a:schemeClr val="bg1"/>
                </a:solidFill>
              </a:rPr>
              <a:t>, it will be available only in the view form.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4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67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</a:t>
            </a:r>
            <a:endParaRPr lang="en-US" sz="40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2419350"/>
            <a:ext cx="853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12. Can </a:t>
            </a:r>
            <a:r>
              <a:rPr lang="en-US" sz="2000" b="1" dirty="0">
                <a:solidFill>
                  <a:srgbClr val="FFC000"/>
                </a:solidFill>
              </a:rPr>
              <a:t>I edit </a:t>
            </a:r>
            <a:r>
              <a:rPr lang="en-US" sz="2000" b="1" dirty="0" smtClean="0">
                <a:solidFill>
                  <a:srgbClr val="FFC000"/>
                </a:solidFill>
              </a:rPr>
              <a:t>the </a:t>
            </a:r>
            <a:r>
              <a:rPr lang="en-US" sz="2000" b="1" dirty="0">
                <a:solidFill>
                  <a:srgbClr val="FFC000"/>
                </a:solidFill>
              </a:rPr>
              <a:t>form after </a:t>
            </a:r>
            <a:r>
              <a:rPr lang="en-US" sz="2000" b="1" dirty="0" smtClean="0">
                <a:solidFill>
                  <a:srgbClr val="FFC000"/>
                </a:solidFill>
              </a:rPr>
              <a:t>submission?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No</a:t>
            </a:r>
            <a:r>
              <a:rPr lang="en-US" sz="2000" b="1" i="1" dirty="0">
                <a:solidFill>
                  <a:schemeClr val="bg1"/>
                </a:solidFill>
              </a:rPr>
              <a:t>, you cannot edit </a:t>
            </a:r>
            <a:r>
              <a:rPr lang="en-US" sz="2000" b="1" i="1" dirty="0" smtClean="0">
                <a:solidFill>
                  <a:schemeClr val="bg1"/>
                </a:solidFill>
              </a:rPr>
              <a:t>the </a:t>
            </a:r>
            <a:r>
              <a:rPr lang="en-US" sz="2000" b="1" i="1" dirty="0">
                <a:solidFill>
                  <a:schemeClr val="bg1"/>
                </a:solidFill>
              </a:rPr>
              <a:t>form after submission. It is advisable that you MUST save the nomination form </a:t>
            </a:r>
            <a:r>
              <a:rPr lang="en-US" sz="2000" b="1" i="1" dirty="0" smtClean="0">
                <a:solidFill>
                  <a:schemeClr val="bg1"/>
                </a:solidFill>
              </a:rPr>
              <a:t>only after </a:t>
            </a:r>
            <a:r>
              <a:rPr lang="en-US" sz="2000" b="1" i="1" dirty="0">
                <a:solidFill>
                  <a:schemeClr val="bg1"/>
                </a:solidFill>
              </a:rPr>
              <a:t>doing </a:t>
            </a:r>
            <a:r>
              <a:rPr lang="en-US" sz="2000" b="1" i="1" dirty="0" smtClean="0">
                <a:solidFill>
                  <a:schemeClr val="bg1"/>
                </a:solidFill>
              </a:rPr>
              <a:t>all the required changes </a:t>
            </a:r>
            <a:r>
              <a:rPr lang="en-US" sz="2000" b="1" i="1" dirty="0">
                <a:solidFill>
                  <a:schemeClr val="bg1"/>
                </a:solidFill>
              </a:rPr>
              <a:t>and submit ONLY when it is complete and verified.  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13. Where </a:t>
            </a:r>
            <a:r>
              <a:rPr lang="en-US" sz="2000" b="1" dirty="0">
                <a:solidFill>
                  <a:srgbClr val="FFC000"/>
                </a:solidFill>
              </a:rPr>
              <a:t>do I get the details of Raymond Leadership Competencies?</a:t>
            </a:r>
            <a:endParaRPr lang="en-US" sz="2000" dirty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It </a:t>
            </a:r>
            <a:r>
              <a:rPr lang="en-US" sz="2000" b="1" i="1" dirty="0">
                <a:solidFill>
                  <a:schemeClr val="bg1"/>
                </a:solidFill>
              </a:rPr>
              <a:t>is available </a:t>
            </a:r>
            <a:r>
              <a:rPr lang="en-US" sz="2000" b="1" i="1" dirty="0" smtClean="0">
                <a:solidFill>
                  <a:schemeClr val="bg1"/>
                </a:solidFill>
              </a:rPr>
              <a:t>in the Award Criteria beside each </a:t>
            </a:r>
            <a:r>
              <a:rPr lang="en-US" sz="2000" b="1" i="1" dirty="0">
                <a:solidFill>
                  <a:schemeClr val="bg1"/>
                </a:solidFill>
              </a:rPr>
              <a:t>award category.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14. What </a:t>
            </a:r>
            <a:r>
              <a:rPr lang="en-US" sz="2000" b="1" dirty="0">
                <a:solidFill>
                  <a:srgbClr val="FFC000"/>
                </a:solidFill>
              </a:rPr>
              <a:t>is the acceptable mode for submitting </a:t>
            </a:r>
            <a:r>
              <a:rPr lang="en-US" sz="2000" b="1" dirty="0" smtClean="0">
                <a:solidFill>
                  <a:srgbClr val="FFC000"/>
                </a:solidFill>
              </a:rPr>
              <a:t>the nomination </a:t>
            </a:r>
            <a:r>
              <a:rPr lang="en-US" sz="2000" b="1" dirty="0">
                <a:solidFill>
                  <a:srgbClr val="FFC000"/>
                </a:solidFill>
              </a:rPr>
              <a:t>form?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The </a:t>
            </a:r>
            <a:r>
              <a:rPr lang="en-US" sz="2000" b="1" i="1" dirty="0">
                <a:solidFill>
                  <a:schemeClr val="bg1"/>
                </a:solidFill>
              </a:rPr>
              <a:t>nomination form needs to be submitted online through </a:t>
            </a:r>
            <a:r>
              <a:rPr lang="en-US" sz="2000" b="1" i="1" dirty="0" smtClean="0">
                <a:solidFill>
                  <a:schemeClr val="bg1"/>
                </a:solidFill>
              </a:rPr>
              <a:t>Raymond Awards for Excellence portal </a:t>
            </a:r>
            <a:r>
              <a:rPr lang="en-US" sz="2000" b="1" i="1" dirty="0">
                <a:solidFill>
                  <a:schemeClr val="bg1"/>
                </a:solidFill>
              </a:rPr>
              <a:t>ONLY.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5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0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</a:t>
            </a:r>
            <a:endParaRPr lang="en-US" sz="40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2419350"/>
            <a:ext cx="853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15. What is the criteria for </a:t>
            </a:r>
            <a:r>
              <a:rPr lang="en-US" sz="2000" b="1" dirty="0">
                <a:solidFill>
                  <a:srgbClr val="FFC000"/>
                </a:solidFill>
              </a:rPr>
              <a:t>each award category?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The criteria for </a:t>
            </a:r>
            <a:r>
              <a:rPr lang="en-US" sz="2000" b="1" i="1" dirty="0">
                <a:solidFill>
                  <a:schemeClr val="bg1"/>
                </a:solidFill>
              </a:rPr>
              <a:t>each award category </a:t>
            </a:r>
            <a:r>
              <a:rPr lang="en-US" sz="2000" b="1" i="1" dirty="0" smtClean="0">
                <a:solidFill>
                  <a:schemeClr val="bg1"/>
                </a:solidFill>
              </a:rPr>
              <a:t>is </a:t>
            </a:r>
            <a:r>
              <a:rPr lang="en-US" sz="2000" b="1" i="1" dirty="0">
                <a:solidFill>
                  <a:schemeClr val="bg1"/>
                </a:solidFill>
              </a:rPr>
              <a:t>available </a:t>
            </a:r>
            <a:r>
              <a:rPr lang="en-US" sz="2000" b="1" i="1" dirty="0" smtClean="0">
                <a:solidFill>
                  <a:schemeClr val="bg1"/>
                </a:solidFill>
              </a:rPr>
              <a:t>on the awards portal. </a:t>
            </a:r>
            <a:r>
              <a:rPr lang="en-US" sz="2000" b="1" i="1" dirty="0">
                <a:solidFill>
                  <a:schemeClr val="bg1"/>
                </a:solidFill>
              </a:rPr>
              <a:t>Once you select the Award Category, the </a:t>
            </a:r>
            <a:r>
              <a:rPr lang="en-US" sz="2000" b="1" i="1" dirty="0" smtClean="0">
                <a:solidFill>
                  <a:schemeClr val="bg1"/>
                </a:solidFill>
              </a:rPr>
              <a:t>criteria for </a:t>
            </a:r>
            <a:r>
              <a:rPr lang="en-US" sz="2000" b="1" i="1" dirty="0">
                <a:solidFill>
                  <a:schemeClr val="bg1"/>
                </a:solidFill>
              </a:rPr>
              <a:t>respective award will be available beside the drop box.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16. What </a:t>
            </a:r>
            <a:r>
              <a:rPr lang="en-US" sz="2000" b="1" dirty="0">
                <a:solidFill>
                  <a:srgbClr val="FFC000"/>
                </a:solidFill>
              </a:rPr>
              <a:t>are the new/amended categories of awards being started this year? </a:t>
            </a:r>
            <a:endParaRPr lang="en-US" sz="2000" dirty="0">
              <a:solidFill>
                <a:srgbClr val="FFC000"/>
              </a:solidFill>
            </a:endParaRPr>
          </a:p>
          <a:p>
            <a:pPr algn="l"/>
            <a:r>
              <a:rPr lang="en-US" sz="2000" b="1" i="1" dirty="0" smtClean="0">
                <a:solidFill>
                  <a:schemeClr val="bg1"/>
                </a:solidFill>
              </a:rPr>
              <a:t>Ans. Below </a:t>
            </a:r>
            <a:r>
              <a:rPr lang="en-US" sz="2000" b="1" i="1" dirty="0">
                <a:solidFill>
                  <a:schemeClr val="bg1"/>
                </a:solidFill>
              </a:rPr>
              <a:t>mentioned are the new/amended categories:</a:t>
            </a:r>
            <a:endParaRPr lang="en-US" sz="2000" dirty="0">
              <a:solidFill>
                <a:schemeClr val="bg1"/>
              </a:solidFill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chemeClr val="bg1"/>
                </a:solidFill>
              </a:rPr>
              <a:t>Eco Champs </a:t>
            </a:r>
            <a:r>
              <a:rPr lang="en-US" sz="2000" b="1" i="1" dirty="0">
                <a:solidFill>
                  <a:srgbClr val="FFC000"/>
                </a:solidFill>
              </a:rPr>
              <a:t>(New </a:t>
            </a:r>
            <a:r>
              <a:rPr lang="en-US" sz="2000" b="1" i="1" dirty="0" smtClean="0">
                <a:solidFill>
                  <a:srgbClr val="FFC000"/>
                </a:solidFill>
              </a:rPr>
              <a:t>Category)</a:t>
            </a:r>
            <a:endParaRPr lang="en-US" sz="2000" dirty="0">
              <a:solidFill>
                <a:srgbClr val="FFC000"/>
              </a:solidFill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i="1" dirty="0" smtClean="0">
                <a:solidFill>
                  <a:schemeClr val="bg1"/>
                </a:solidFill>
              </a:rPr>
              <a:t>Chairman’s Award </a:t>
            </a:r>
            <a:r>
              <a:rPr lang="en-US" sz="2000" b="1" i="1" dirty="0" smtClean="0">
                <a:solidFill>
                  <a:srgbClr val="FFC000"/>
                </a:solidFill>
              </a:rPr>
              <a:t>(New Category)</a:t>
            </a:r>
            <a:endParaRPr lang="en-US" sz="2000" dirty="0">
              <a:solidFill>
                <a:srgbClr val="FFC000"/>
              </a:solidFill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i="1" dirty="0" smtClean="0">
                <a:solidFill>
                  <a:schemeClr val="bg1"/>
                </a:solidFill>
              </a:rPr>
              <a:t>Most </a:t>
            </a:r>
            <a:r>
              <a:rPr lang="en-US" sz="2000" b="1" i="1" dirty="0">
                <a:solidFill>
                  <a:schemeClr val="bg1"/>
                </a:solidFill>
              </a:rPr>
              <a:t>Valued Contributor – DM to Officer </a:t>
            </a:r>
            <a:r>
              <a:rPr lang="en-US" sz="2000" b="1" i="1" dirty="0">
                <a:solidFill>
                  <a:srgbClr val="FFC000"/>
                </a:solidFill>
              </a:rPr>
              <a:t>(Amended Category</a:t>
            </a:r>
            <a:r>
              <a:rPr lang="en-US" sz="2000" b="1" i="1" dirty="0" smtClean="0">
                <a:solidFill>
                  <a:srgbClr val="FFC000"/>
                </a:solidFill>
              </a:rPr>
              <a:t>)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6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32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09551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Question &amp; Answers</a:t>
            </a:r>
            <a:endParaRPr lang="en-US" sz="40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2724150"/>
            <a:ext cx="8534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17. What is the step </a:t>
            </a:r>
            <a:r>
              <a:rPr lang="en-US" sz="2000" b="1" dirty="0">
                <a:solidFill>
                  <a:srgbClr val="FFC000"/>
                </a:solidFill>
              </a:rPr>
              <a:t>by step process of submitting the nomination form?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User </a:t>
            </a:r>
            <a:r>
              <a:rPr lang="en-US" sz="2000" b="1" i="1" dirty="0">
                <a:solidFill>
                  <a:schemeClr val="bg1"/>
                </a:solidFill>
              </a:rPr>
              <a:t>guide for step by step process of submitting the nomination form is available under </a:t>
            </a:r>
            <a:r>
              <a:rPr lang="en-US" sz="2000" b="1" i="1" dirty="0" smtClean="0">
                <a:solidFill>
                  <a:schemeClr val="bg1"/>
                </a:solidFill>
              </a:rPr>
              <a:t>“HELP” Tab for reference.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b="1" i="1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18. How to replace the image/video byte/document(s) which is already uploaded?</a:t>
            </a:r>
          </a:p>
          <a:p>
            <a:pPr lvl="0" algn="just"/>
            <a:r>
              <a:rPr lang="en-US" sz="2000" b="1" i="1" dirty="0" smtClean="0">
                <a:solidFill>
                  <a:schemeClr val="bg1"/>
                </a:solidFill>
              </a:rPr>
              <a:t>Ans. Uploading the </a:t>
            </a:r>
            <a:r>
              <a:rPr lang="en-US" sz="2000" b="1" i="1" dirty="0">
                <a:solidFill>
                  <a:schemeClr val="bg1"/>
                </a:solidFill>
              </a:rPr>
              <a:t>new image/video byte/document(s) </a:t>
            </a:r>
            <a:r>
              <a:rPr lang="en-US" sz="2000" b="1" i="1" dirty="0" smtClean="0">
                <a:solidFill>
                  <a:schemeClr val="bg1"/>
                </a:solidFill>
              </a:rPr>
              <a:t>will automatically replace the existing/already uploaded file. Replacing the files are possible only before clicking the ‘Submit” button. </a:t>
            </a:r>
          </a:p>
          <a:p>
            <a:pPr lvl="0" algn="l"/>
            <a:endParaRPr lang="en-US" sz="2000" b="1" dirty="0">
              <a:solidFill>
                <a:srgbClr val="FFC000"/>
              </a:solidFill>
            </a:endParaRPr>
          </a:p>
          <a:p>
            <a:pPr lvl="0" algn="l"/>
            <a:r>
              <a:rPr lang="en-US" sz="2000" b="1" dirty="0" smtClean="0">
                <a:solidFill>
                  <a:srgbClr val="FFC000"/>
                </a:solidFill>
              </a:rPr>
              <a:t>Q 19. When will the option to submit the nomination form be activated?</a:t>
            </a:r>
            <a:endParaRPr lang="en-US" sz="2000" dirty="0">
              <a:solidFill>
                <a:srgbClr val="FFC000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bg1"/>
                </a:solidFill>
              </a:rPr>
              <a:t>Ans. Option to “Submit” the nomination form will be activated only after completely filling the form and clicking on the “Save Button”.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4781550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srgbClr val="FF0000"/>
                </a:solidFill>
                <a:latin typeface="Candara" panose="020E0502030303020204" pitchFamily="34" charset="0"/>
              </a:rPr>
              <a:t>PAGE 7</a:t>
            </a:r>
            <a:endParaRPr lang="en-US" sz="1400" b="1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2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9300"/>
            <a:ext cx="8229600" cy="85725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FFC000"/>
                </a:solidFill>
                <a:latin typeface="Candara" panose="020E0502030303020204" pitchFamily="34" charset="0"/>
              </a:rPr>
              <a:t>Thank You</a:t>
            </a:r>
            <a:endParaRPr lang="en-US" sz="6000" b="1" dirty="0">
              <a:solidFill>
                <a:srgbClr val="FFC000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670107"/>
            <a:ext cx="914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 smtClean="0">
                <a:solidFill>
                  <a:schemeClr val="bg1"/>
                </a:solidFill>
                <a:latin typeface="Candara" panose="020E0502030303020204" pitchFamily="34" charset="0"/>
              </a:rPr>
              <a:t>For any further queries you are requested to </a:t>
            </a:r>
            <a:r>
              <a:rPr lang="en-IN" sz="1300" dirty="0" smtClean="0">
                <a:solidFill>
                  <a:schemeClr val="bg1"/>
                </a:solidFill>
                <a:latin typeface="Candara" panose="020E0502030303020204" pitchFamily="34" charset="0"/>
              </a:rPr>
              <a:t>get </a:t>
            </a:r>
            <a:r>
              <a:rPr lang="en-IN" sz="1300" dirty="0">
                <a:solidFill>
                  <a:schemeClr val="bg1"/>
                </a:solidFill>
                <a:latin typeface="Candara" panose="020E0502030303020204" pitchFamily="34" charset="0"/>
              </a:rPr>
              <a:t>in touch with your </a:t>
            </a:r>
            <a:r>
              <a:rPr lang="en-IN" sz="1300" dirty="0" smtClean="0">
                <a:solidFill>
                  <a:schemeClr val="bg1"/>
                </a:solidFill>
                <a:latin typeface="Candara" panose="020E0502030303020204" pitchFamily="34" charset="0"/>
              </a:rPr>
              <a:t>BU HR or </a:t>
            </a:r>
            <a:r>
              <a:rPr lang="en-IN" sz="1300" dirty="0">
                <a:solidFill>
                  <a:schemeClr val="bg1"/>
                </a:solidFill>
                <a:latin typeface="Candara" panose="020E0502030303020204" pitchFamily="34" charset="0"/>
              </a:rPr>
              <a:t>you can write to awards@raymond.in</a:t>
            </a:r>
            <a:endParaRPr lang="en-US" sz="13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pPr algn="ctr"/>
            <a:r>
              <a:rPr lang="en-US" sz="1300" dirty="0" smtClean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endParaRPr lang="en-US" sz="13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26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4015</TotalTime>
  <Words>395</Words>
  <Application>Microsoft Office PowerPoint</Application>
  <PresentationFormat>On-screen Show (16:9)</PresentationFormat>
  <Paragraphs>79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Candara</vt:lpstr>
      <vt:lpstr>Office Theme</vt:lpstr>
      <vt:lpstr>1_Office Theme</vt:lpstr>
      <vt:lpstr>2_Office Theme</vt:lpstr>
      <vt:lpstr>3_Office Theme</vt:lpstr>
      <vt:lpstr>4_Office Theme</vt:lpstr>
      <vt:lpstr>PowerPoint Presentation</vt:lpstr>
      <vt:lpstr>Question &amp; Answers </vt:lpstr>
      <vt:lpstr>Question &amp; Answers</vt:lpstr>
      <vt:lpstr>Question &amp; Answers</vt:lpstr>
      <vt:lpstr>Question &amp; Answers</vt:lpstr>
      <vt:lpstr>Question &amp; Answers</vt:lpstr>
      <vt:lpstr>Question &amp; Answers</vt:lpstr>
      <vt:lpstr>Question &amp; Answers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Frequently Asked Questions - Raymond Awards for Excellence</dc:title>
  <dc:creator>Ruhama Kachhap</dc:creator>
  <cp:lastModifiedBy>Surbhi Solanki</cp:lastModifiedBy>
  <cp:revision>61</cp:revision>
  <dcterms:created xsi:type="dcterms:W3CDTF">2006-08-16T00:00:00Z</dcterms:created>
  <dcterms:modified xsi:type="dcterms:W3CDTF">2022-06-13T10:12:23Z</dcterms:modified>
</cp:coreProperties>
</file>