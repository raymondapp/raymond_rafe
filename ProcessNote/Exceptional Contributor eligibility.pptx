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7EB10-7224-47F0-8D4D-AC71B66E2584}" type="datetimeFigureOut">
              <a:rPr lang="en-US" smtClean="0"/>
              <a:t>6/10/2019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59D1D-0AB6-45A5-8A4B-B20A27804C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2503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7EB10-7224-47F0-8D4D-AC71B66E2584}" type="datetimeFigureOut">
              <a:rPr lang="en-US" smtClean="0"/>
              <a:t>6/10/2019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59D1D-0AB6-45A5-8A4B-B20A27804C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8411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7EB10-7224-47F0-8D4D-AC71B66E2584}" type="datetimeFigureOut">
              <a:rPr lang="en-US" smtClean="0"/>
              <a:t>6/10/2019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59D1D-0AB6-45A5-8A4B-B20A27804C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785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7EB10-7224-47F0-8D4D-AC71B66E2584}" type="datetimeFigureOut">
              <a:rPr lang="en-US" smtClean="0"/>
              <a:t>6/10/2019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59D1D-0AB6-45A5-8A4B-B20A27804C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287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7EB10-7224-47F0-8D4D-AC71B66E2584}" type="datetimeFigureOut">
              <a:rPr lang="en-US" smtClean="0"/>
              <a:t>6/10/2019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59D1D-0AB6-45A5-8A4B-B20A27804C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463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7EB10-7224-47F0-8D4D-AC71B66E2584}" type="datetimeFigureOut">
              <a:rPr lang="en-US" smtClean="0"/>
              <a:t>6/10/2019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59D1D-0AB6-45A5-8A4B-B20A27804C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091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7EB10-7224-47F0-8D4D-AC71B66E2584}" type="datetimeFigureOut">
              <a:rPr lang="en-US" smtClean="0"/>
              <a:t>6/10/2019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59D1D-0AB6-45A5-8A4B-B20A27804C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7792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7EB10-7224-47F0-8D4D-AC71B66E2584}" type="datetimeFigureOut">
              <a:rPr lang="en-US" smtClean="0"/>
              <a:t>6/10/2019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59D1D-0AB6-45A5-8A4B-B20A27804C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416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7EB10-7224-47F0-8D4D-AC71B66E2584}" type="datetimeFigureOut">
              <a:rPr lang="en-US" smtClean="0"/>
              <a:t>6/10/2019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59D1D-0AB6-45A5-8A4B-B20A27804C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123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7EB10-7224-47F0-8D4D-AC71B66E2584}" type="datetimeFigureOut">
              <a:rPr lang="en-US" smtClean="0"/>
              <a:t>6/10/2019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59D1D-0AB6-45A5-8A4B-B20A27804C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675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7EB10-7224-47F0-8D4D-AC71B66E2584}" type="datetimeFigureOut">
              <a:rPr lang="en-US" smtClean="0"/>
              <a:t>6/10/2019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59D1D-0AB6-45A5-8A4B-B20A27804C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5515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27EB10-7224-47F0-8D4D-AC71B66E2584}" type="datetimeFigureOut">
              <a:rPr lang="en-US" smtClean="0"/>
              <a:t>6/10/2019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259D1D-0AB6-45A5-8A4B-B20A27804C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61587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 rot="16200000" flipV="1">
            <a:off x="859558" y="-866965"/>
            <a:ext cx="508001" cy="2227114"/>
            <a:chOff x="-1" y="1065553"/>
            <a:chExt cx="381001" cy="2227114"/>
          </a:xfrm>
        </p:grpSpPr>
        <p:sp>
          <p:nvSpPr>
            <p:cNvPr id="6" name="Rectangle 5"/>
            <p:cNvSpPr/>
            <p:nvPr/>
          </p:nvSpPr>
          <p:spPr>
            <a:xfrm>
              <a:off x="0" y="2911667"/>
              <a:ext cx="381000" cy="381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mbria" panose="02040503050406030204" pitchFamily="18" charset="0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0" y="2559257"/>
              <a:ext cx="381000" cy="3810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mbria" panose="02040503050406030204" pitchFamily="18" charset="0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0" y="2208553"/>
              <a:ext cx="381000" cy="38100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mbria" panose="02040503050406030204" pitchFamily="18" charset="0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-1" y="1827554"/>
              <a:ext cx="381000" cy="381000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mbria" panose="02040503050406030204" pitchFamily="18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0" y="1446553"/>
              <a:ext cx="381000" cy="381000"/>
            </a:xfrm>
            <a:prstGeom prst="rect">
              <a:avLst/>
            </a:prstGeom>
            <a:solidFill>
              <a:srgbClr val="0F07A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0" y="1065553"/>
              <a:ext cx="381000" cy="381000"/>
            </a:xfrm>
            <a:prstGeom prst="rect">
              <a:avLst/>
            </a:prstGeom>
            <a:solidFill>
              <a:srgbClr val="430DA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mbria" panose="02040503050406030204" pitchFamily="18" charset="0"/>
              </a:endParaRPr>
            </a:p>
          </p:txBody>
        </p:sp>
      </p:grp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2" cstate="print">
            <a:clrChange>
              <a:clrFrom>
                <a:srgbClr val="2B2A28"/>
              </a:clrFrom>
              <a:clrTo>
                <a:srgbClr val="2B2A28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67" t="10600" r="5392" b="12821"/>
          <a:stretch/>
        </p:blipFill>
        <p:spPr>
          <a:xfrm>
            <a:off x="8077200" y="6070427"/>
            <a:ext cx="1150480" cy="787573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0974" y="76201"/>
            <a:ext cx="1016827" cy="424393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376913" y="2213769"/>
            <a:ext cx="8434395" cy="3323987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just"/>
            <a:r>
              <a:rPr lang="en-US" sz="1400" dirty="0">
                <a:latin typeface="Cambria" panose="02040503050406030204" pitchFamily="18" charset="0"/>
              </a:rPr>
              <a:t>The nominees </a:t>
            </a:r>
            <a:r>
              <a:rPr lang="en-US" sz="1400" dirty="0" smtClean="0">
                <a:latin typeface="Cambria" panose="02040503050406030204" pitchFamily="18" charset="0"/>
              </a:rPr>
              <a:t>and/or </a:t>
            </a:r>
            <a:r>
              <a:rPr lang="en-US" sz="1400" dirty="0">
                <a:latin typeface="Cambria" panose="02040503050406030204" pitchFamily="18" charset="0"/>
              </a:rPr>
              <a:t>awardees of last </a:t>
            </a:r>
            <a:r>
              <a:rPr lang="en-US" sz="1400" dirty="0" smtClean="0">
                <a:latin typeface="Cambria" panose="02040503050406030204" pitchFamily="18" charset="0"/>
              </a:rPr>
              <a:t>Prism</a:t>
            </a:r>
            <a:r>
              <a:rPr lang="en-US" sz="1400" dirty="0" smtClean="0">
                <a:latin typeface="Cambria" panose="02040503050406030204" pitchFamily="18" charset="0"/>
              </a:rPr>
              <a:t> </a:t>
            </a:r>
            <a:r>
              <a:rPr lang="en-US" sz="1400" dirty="0">
                <a:latin typeface="Cambria" panose="02040503050406030204" pitchFamily="18" charset="0"/>
              </a:rPr>
              <a:t>are eligible for nomination for Q</a:t>
            </a:r>
            <a:r>
              <a:rPr lang="en-US" sz="1400" dirty="0" smtClean="0">
                <a:latin typeface="Cambria" panose="02040503050406030204" pitchFamily="18" charset="0"/>
              </a:rPr>
              <a:t>uarter </a:t>
            </a:r>
            <a:r>
              <a:rPr lang="en-US" sz="1400" dirty="0" smtClean="0">
                <a:latin typeface="Cambria" panose="02040503050406030204" pitchFamily="18" charset="0"/>
              </a:rPr>
              <a:t>4 &amp; Quarter 1 </a:t>
            </a:r>
            <a:r>
              <a:rPr lang="en-US" sz="1400" dirty="0" smtClean="0">
                <a:latin typeface="Cambria" panose="02040503050406030204" pitchFamily="18" charset="0"/>
              </a:rPr>
              <a:t> </a:t>
            </a:r>
            <a:r>
              <a:rPr lang="en-US" sz="1400" dirty="0" smtClean="0">
                <a:latin typeface="Cambria" panose="02040503050406030204" pitchFamily="18" charset="0"/>
              </a:rPr>
              <a:t>together based </a:t>
            </a:r>
            <a:r>
              <a:rPr lang="en-US" sz="1400" dirty="0">
                <a:latin typeface="Cambria" panose="02040503050406030204" pitchFamily="18" charset="0"/>
              </a:rPr>
              <a:t>on their contributions specific during the eligibility period. </a:t>
            </a:r>
            <a:endParaRPr lang="en-US" sz="1400" dirty="0" smtClean="0">
              <a:latin typeface="Cambria" panose="02040503050406030204" pitchFamily="18" charset="0"/>
            </a:endParaRPr>
          </a:p>
          <a:p>
            <a:pPr marL="174625" indent="-174625" algn="just">
              <a:buFont typeface="Wingdings" panose="05000000000000000000" pitchFamily="2" charset="2"/>
              <a:buChar char="§"/>
            </a:pPr>
            <a:endParaRPr lang="en-US" sz="1400" dirty="0">
              <a:latin typeface="Cambria" panose="02040503050406030204" pitchFamily="18" charset="0"/>
            </a:endParaRPr>
          </a:p>
          <a:p>
            <a:pPr marL="174625" indent="-174625" algn="just">
              <a:buFont typeface="Wingdings" panose="05000000000000000000" pitchFamily="2" charset="2"/>
              <a:buChar char="§"/>
            </a:pPr>
            <a:r>
              <a:rPr lang="en-US" sz="1400" dirty="0" smtClean="0">
                <a:latin typeface="Cambria" panose="02040503050406030204" pitchFamily="18" charset="0"/>
              </a:rPr>
              <a:t>All </a:t>
            </a:r>
            <a:r>
              <a:rPr lang="en-US" sz="1400" dirty="0">
                <a:latin typeface="Cambria" panose="02040503050406030204" pitchFamily="18" charset="0"/>
              </a:rPr>
              <a:t>the award categories are up to </a:t>
            </a:r>
            <a:r>
              <a:rPr lang="en-US" sz="1400" dirty="0" smtClean="0">
                <a:latin typeface="Cambria" panose="02040503050406030204" pitchFamily="18" charset="0"/>
              </a:rPr>
              <a:t>Deputy General Manager Level </a:t>
            </a:r>
            <a:r>
              <a:rPr lang="en-US" sz="1400" dirty="0">
                <a:latin typeface="Cambria" panose="02040503050406030204" pitchFamily="18" charset="0"/>
              </a:rPr>
              <a:t>only. The nominations are open for retail hub employees </a:t>
            </a:r>
            <a:r>
              <a:rPr lang="en-US" sz="1400" dirty="0" smtClean="0">
                <a:latin typeface="Cambria" panose="02040503050406030204" pitchFamily="18" charset="0"/>
              </a:rPr>
              <a:t>too.</a:t>
            </a:r>
          </a:p>
          <a:p>
            <a:pPr marL="174625" indent="-174625" algn="just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1400" dirty="0" smtClean="0">
                <a:latin typeface="Cambria" panose="02040503050406030204" pitchFamily="18" charset="0"/>
              </a:rPr>
              <a:t>Please </a:t>
            </a:r>
            <a:r>
              <a:rPr lang="en-US" sz="1400" dirty="0">
                <a:latin typeface="Cambria" panose="02040503050406030204" pitchFamily="18" charset="0"/>
              </a:rPr>
              <a:t>refer to specific guidelines for nominations in each category as given below</a:t>
            </a:r>
            <a:r>
              <a:rPr lang="en-US" sz="1400" dirty="0" smtClean="0">
                <a:latin typeface="Cambria" panose="02040503050406030204" pitchFamily="18" charset="0"/>
              </a:rPr>
              <a:t>.</a:t>
            </a:r>
          </a:p>
          <a:p>
            <a:pPr marL="174625" indent="-174625" algn="just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1400" dirty="0" smtClean="0">
                <a:latin typeface="Cambria" panose="02040503050406030204" pitchFamily="18" charset="0"/>
              </a:rPr>
              <a:t>AWARD NOMINATION PROCESS: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400" dirty="0" smtClean="0">
                <a:latin typeface="Cambria" panose="02040503050406030204" pitchFamily="18" charset="0"/>
              </a:rPr>
              <a:t>Nominations </a:t>
            </a:r>
            <a:r>
              <a:rPr lang="en-US" sz="1400" dirty="0">
                <a:latin typeface="Cambria" panose="02040503050406030204" pitchFamily="18" charset="0"/>
              </a:rPr>
              <a:t>to be sent by the Reporting </a:t>
            </a:r>
            <a:r>
              <a:rPr lang="en-US" sz="1400" dirty="0" smtClean="0">
                <a:latin typeface="Cambria" panose="02040503050406030204" pitchFamily="18" charset="0"/>
              </a:rPr>
              <a:t>Managers to their respective HOD’s / Functional </a:t>
            </a:r>
            <a:r>
              <a:rPr lang="en-US" sz="1400" dirty="0" smtClean="0">
                <a:latin typeface="Cambria" panose="02040503050406030204" pitchFamily="18" charset="0"/>
              </a:rPr>
              <a:t>Heads on the Prism Portal</a:t>
            </a:r>
            <a:endParaRPr lang="en-US" sz="1400" dirty="0">
              <a:latin typeface="Cambria" panose="02040503050406030204" pitchFamily="18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US" sz="1400" dirty="0">
                <a:latin typeface="Cambria" panose="02040503050406030204" pitchFamily="18" charset="0"/>
              </a:rPr>
              <a:t>Each </a:t>
            </a:r>
            <a:r>
              <a:rPr lang="en-US" sz="1400" dirty="0" smtClean="0">
                <a:latin typeface="Cambria" panose="02040503050406030204" pitchFamily="18" charset="0"/>
              </a:rPr>
              <a:t>Functional Head </a:t>
            </a:r>
            <a:r>
              <a:rPr lang="en-US" sz="1400" dirty="0">
                <a:latin typeface="Cambria" panose="02040503050406030204" pitchFamily="18" charset="0"/>
              </a:rPr>
              <a:t>to shortlist the final entries at their </a:t>
            </a:r>
            <a:r>
              <a:rPr lang="en-US" sz="1400" dirty="0" smtClean="0">
                <a:latin typeface="Cambria" panose="02040503050406030204" pitchFamily="18" charset="0"/>
              </a:rPr>
              <a:t>level and share completed forms of final </a:t>
            </a:r>
            <a:r>
              <a:rPr lang="en-US" sz="1400" dirty="0" smtClean="0">
                <a:latin typeface="Cambria" panose="02040503050406030204" pitchFamily="18" charset="0"/>
              </a:rPr>
              <a:t>shortlists on the portal </a:t>
            </a:r>
            <a:endParaRPr lang="en-US" sz="1400" dirty="0">
              <a:latin typeface="Cambria" panose="02040503050406030204" pitchFamily="18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US" sz="1400" dirty="0" smtClean="0">
                <a:latin typeface="Cambria" panose="02040503050406030204" pitchFamily="18" charset="0"/>
              </a:rPr>
              <a:t>CXO Team (Bibek, Adhir, Shantiswarup &amp; Ravi) to finalize the winners for each of their functions along with Business HR.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16" name="Title 14"/>
          <p:cNvSpPr>
            <a:spLocks noGrp="1"/>
          </p:cNvSpPr>
          <p:nvPr>
            <p:ph type="title"/>
          </p:nvPr>
        </p:nvSpPr>
        <p:spPr>
          <a:xfrm>
            <a:off x="304800" y="5588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Cambria" panose="02040503050406030204" pitchFamily="18" charset="0"/>
              </a:rPr>
              <a:t>GENERAL GUIDELINES</a:t>
            </a:r>
            <a:endParaRPr lang="en-US" sz="3600" b="1" dirty="0">
              <a:solidFill>
                <a:srgbClr val="FF0000"/>
              </a:solidFill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1976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2" cstate="print">
            <a:clrChange>
              <a:clrFrom>
                <a:srgbClr val="2B2A28"/>
              </a:clrFrom>
              <a:clrTo>
                <a:srgbClr val="2B2A28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67" t="10600" r="5392" b="12821"/>
          <a:stretch/>
        </p:blipFill>
        <p:spPr>
          <a:xfrm>
            <a:off x="8001000" y="5994227"/>
            <a:ext cx="1150480" cy="787573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0974" y="195734"/>
            <a:ext cx="1016827" cy="424393"/>
          </a:xfrm>
          <a:prstGeom prst="rect">
            <a:avLst/>
          </a:prstGeom>
        </p:spPr>
      </p:pic>
      <p:grpSp>
        <p:nvGrpSpPr>
          <p:cNvPr id="16" name="Group 15"/>
          <p:cNvGrpSpPr/>
          <p:nvPr/>
        </p:nvGrpSpPr>
        <p:grpSpPr>
          <a:xfrm rot="16200000" flipV="1">
            <a:off x="859558" y="-867022"/>
            <a:ext cx="508001" cy="2227114"/>
            <a:chOff x="-1" y="1065553"/>
            <a:chExt cx="381001" cy="2227114"/>
          </a:xfrm>
        </p:grpSpPr>
        <p:sp>
          <p:nvSpPr>
            <p:cNvPr id="17" name="Rectangle 16"/>
            <p:cNvSpPr/>
            <p:nvPr/>
          </p:nvSpPr>
          <p:spPr>
            <a:xfrm>
              <a:off x="0" y="2911667"/>
              <a:ext cx="381000" cy="381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mbria" panose="02040503050406030204" pitchFamily="18" charset="0"/>
              </a:endParaRP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0" y="2559257"/>
              <a:ext cx="381000" cy="3810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mbria" panose="02040503050406030204" pitchFamily="18" charset="0"/>
              </a:endParaRP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0" y="2208553"/>
              <a:ext cx="381000" cy="38100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mbria" panose="02040503050406030204" pitchFamily="18" charset="0"/>
              </a:endParaRP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-1" y="1827554"/>
              <a:ext cx="381000" cy="381000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mbria" panose="02040503050406030204" pitchFamily="18" charset="0"/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0" y="1446553"/>
              <a:ext cx="381000" cy="381000"/>
            </a:xfrm>
            <a:prstGeom prst="rect">
              <a:avLst/>
            </a:prstGeom>
            <a:solidFill>
              <a:srgbClr val="0F07A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mbria" panose="02040503050406030204" pitchFamily="18" charset="0"/>
              </a:endParaRP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0" y="1065553"/>
              <a:ext cx="381000" cy="381000"/>
            </a:xfrm>
            <a:prstGeom prst="rect">
              <a:avLst/>
            </a:prstGeom>
            <a:solidFill>
              <a:srgbClr val="430DA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mbria" panose="02040503050406030204" pitchFamily="18" charset="0"/>
              </a:endParaRPr>
            </a:p>
          </p:txBody>
        </p:sp>
      </p:grpSp>
      <p:sp>
        <p:nvSpPr>
          <p:cNvPr id="28" name="Rectangle 27"/>
          <p:cNvSpPr/>
          <p:nvPr/>
        </p:nvSpPr>
        <p:spPr>
          <a:xfrm>
            <a:off x="301060" y="1498283"/>
            <a:ext cx="6023540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400" b="1" dirty="0" smtClean="0">
                <a:solidFill>
                  <a:srgbClr val="FF0000"/>
                </a:solidFill>
                <a:latin typeface="Cambria" panose="02040503050406030204" pitchFamily="18" charset="0"/>
              </a:rPr>
              <a:t>ELIGIBILITY CRITERIA:</a:t>
            </a:r>
          </a:p>
          <a:p>
            <a:pPr algn="just"/>
            <a:endParaRPr lang="en-US" sz="1400" b="1" dirty="0" smtClean="0">
              <a:solidFill>
                <a:srgbClr val="FF0000"/>
              </a:solidFill>
              <a:latin typeface="Cambria" panose="02040503050406030204" pitchFamily="18" charset="0"/>
            </a:endParaRP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n-US" sz="1400" dirty="0" smtClean="0">
                <a:latin typeface="Cambria" panose="02040503050406030204" pitchFamily="18" charset="0"/>
              </a:rPr>
              <a:t>Significant </a:t>
            </a:r>
            <a:r>
              <a:rPr lang="en-US" sz="1400" dirty="0">
                <a:latin typeface="Cambria" panose="02040503050406030204" pitchFamily="18" charset="0"/>
              </a:rPr>
              <a:t>contribution made beyond role or own area of expertise </a:t>
            </a:r>
            <a:r>
              <a:rPr lang="en-US" sz="1400" dirty="0" smtClean="0">
                <a:latin typeface="Cambria" panose="02040503050406030204" pitchFamily="18" charset="0"/>
              </a:rPr>
              <a:t>towards </a:t>
            </a:r>
            <a:r>
              <a:rPr lang="en-US" sz="1400" dirty="0">
                <a:latin typeface="Cambria" panose="02040503050406030204" pitchFamily="18" charset="0"/>
              </a:rPr>
              <a:t>the organization (Quantifiable &amp; Qualitative terms)</a:t>
            </a: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n-US" sz="1400" dirty="0">
                <a:latin typeface="Cambria" panose="02040503050406030204" pitchFamily="18" charset="0"/>
              </a:rPr>
              <a:t>Impact of contribution on processes, customers, organization's growth, </a:t>
            </a:r>
            <a:r>
              <a:rPr lang="en-US" sz="1400" dirty="0" smtClean="0">
                <a:latin typeface="Cambria" panose="02040503050406030204" pitchFamily="18" charset="0"/>
              </a:rPr>
              <a:t>revenue</a:t>
            </a:r>
            <a:r>
              <a:rPr lang="en-US" sz="1400" dirty="0">
                <a:latin typeface="Cambria" panose="02040503050406030204" pitchFamily="18" charset="0"/>
              </a:rPr>
              <a:t>, market share etc.</a:t>
            </a: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n-US" sz="1400" dirty="0">
                <a:latin typeface="Cambria" panose="02040503050406030204" pitchFamily="18" charset="0"/>
              </a:rPr>
              <a:t>Role model behavior exemplifying </a:t>
            </a:r>
            <a:r>
              <a:rPr lang="en-US" sz="1400" dirty="0" smtClean="0">
                <a:latin typeface="Cambria" panose="02040503050406030204" pitchFamily="18" charset="0"/>
              </a:rPr>
              <a:t>Raymond Culture Pillars</a:t>
            </a:r>
            <a:r>
              <a:rPr lang="en-US" sz="1400" dirty="0">
                <a:latin typeface="Cambria" panose="02040503050406030204" pitchFamily="18" charset="0"/>
              </a:rPr>
              <a:t>. </a:t>
            </a:r>
          </a:p>
        </p:txBody>
      </p:sp>
      <p:sp>
        <p:nvSpPr>
          <p:cNvPr id="25" name="Title 14"/>
          <p:cNvSpPr>
            <a:spLocks noGrp="1"/>
          </p:cNvSpPr>
          <p:nvPr>
            <p:ph type="title"/>
          </p:nvPr>
        </p:nvSpPr>
        <p:spPr>
          <a:xfrm>
            <a:off x="304800" y="407930"/>
            <a:ext cx="8229600" cy="989071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Cambria" panose="02040503050406030204" pitchFamily="18" charset="0"/>
              </a:rPr>
              <a:t>EXCEPTIONAL CONTRIBUTOR</a:t>
            </a:r>
            <a:endParaRPr lang="en-US" sz="3600" b="1" dirty="0">
              <a:solidFill>
                <a:srgbClr val="FF0000"/>
              </a:solidFill>
              <a:latin typeface="Cambria" panose="020405030504060302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01061" y="3628232"/>
            <a:ext cx="404142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 smtClean="0">
                <a:solidFill>
                  <a:srgbClr val="FF0000"/>
                </a:solidFill>
                <a:latin typeface="Cambria" panose="02040503050406030204" pitchFamily="18" charset="0"/>
              </a:rPr>
              <a:t>TOTAL NO OF WINNERS BASED ON FUNCTIONS:</a:t>
            </a:r>
            <a:endParaRPr lang="en-US" sz="1400" b="1" dirty="0">
              <a:solidFill>
                <a:srgbClr val="FF0000"/>
              </a:solidFill>
              <a:latin typeface="Cambria" panose="02040503050406030204" pitchFamily="18" charset="0"/>
            </a:endParaRP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 rotWithShape="1">
          <a:blip r:embed="rId4"/>
          <a:srcRect l="18957" t="1" r="20221" b="14608"/>
          <a:stretch/>
        </p:blipFill>
        <p:spPr>
          <a:xfrm>
            <a:off x="6663596" y="2204121"/>
            <a:ext cx="2328004" cy="28504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9623501"/>
              </p:ext>
            </p:extLst>
          </p:nvPr>
        </p:nvGraphicFramePr>
        <p:xfrm>
          <a:off x="438038" y="4361854"/>
          <a:ext cx="4181489" cy="17830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352689"/>
                <a:gridCol w="1828800"/>
              </a:tblGrid>
              <a:tr h="349673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 dirty="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Department</a:t>
                      </a:r>
                      <a:endParaRPr lang="en-US" sz="1500" b="1" dirty="0">
                        <a:solidFill>
                          <a:srgbClr val="FF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57785" marR="57785" marT="1270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 dirty="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Exceptional Contributor</a:t>
                      </a:r>
                      <a:endParaRPr lang="en-US" sz="1500" b="1" dirty="0">
                        <a:solidFill>
                          <a:srgbClr val="FF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57785" marR="57785" marT="12700" marB="0" anchor="ctr">
                    <a:solidFill>
                      <a:schemeClr val="bg1"/>
                    </a:solidFill>
                  </a:tcPr>
                </a:tc>
              </a:tr>
              <a:tr h="25654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0" dirty="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Human Resources</a:t>
                      </a:r>
                      <a:endParaRPr lang="en-US" sz="1500" b="0" dirty="0">
                        <a:solidFill>
                          <a:srgbClr val="FF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57785" marR="57785" marT="1270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  <a:endParaRPr lang="en-US" sz="1500" b="0">
                        <a:solidFill>
                          <a:srgbClr val="FF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57785" marR="57785" marT="12700" marB="0" anchor="ctr">
                    <a:solidFill>
                      <a:schemeClr val="bg1"/>
                    </a:solidFill>
                  </a:tcPr>
                </a:tc>
              </a:tr>
              <a:tr h="25654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0" dirty="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Finance</a:t>
                      </a:r>
                      <a:endParaRPr lang="en-US" sz="1500" b="0" dirty="0">
                        <a:solidFill>
                          <a:srgbClr val="FF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57785" marR="57785" marT="1270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3</a:t>
                      </a:r>
                      <a:endParaRPr lang="en-US" sz="1500" b="0">
                        <a:solidFill>
                          <a:srgbClr val="FF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57785" marR="57785" marT="12700" marB="0" anchor="ctr">
                    <a:solidFill>
                      <a:schemeClr val="bg1"/>
                    </a:solidFill>
                  </a:tcPr>
                </a:tc>
              </a:tr>
              <a:tr h="25654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0" dirty="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Digital Consumer Centre</a:t>
                      </a:r>
                      <a:endParaRPr lang="en-US" sz="1500" b="0" dirty="0">
                        <a:solidFill>
                          <a:srgbClr val="FF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57785" marR="57785" marT="1270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  <a:endParaRPr lang="en-US" sz="1500" b="0">
                        <a:solidFill>
                          <a:srgbClr val="FF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57785" marR="57785" marT="12700" marB="0" anchor="ctr">
                    <a:solidFill>
                      <a:schemeClr val="bg1"/>
                    </a:solidFill>
                  </a:tcPr>
                </a:tc>
              </a:tr>
              <a:tr h="25654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Marketing</a:t>
                      </a:r>
                      <a:endParaRPr lang="en-US" sz="1500" b="0">
                        <a:solidFill>
                          <a:srgbClr val="FF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57785" marR="57785" marT="1270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  <a:endParaRPr lang="en-US" sz="1500" b="0">
                        <a:solidFill>
                          <a:srgbClr val="FF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57785" marR="57785" marT="12700" marB="0" anchor="ctr">
                    <a:solidFill>
                      <a:schemeClr val="bg1"/>
                    </a:solidFill>
                  </a:tcPr>
                </a:tc>
              </a:tr>
              <a:tr h="25654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0" dirty="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Grand Total</a:t>
                      </a:r>
                      <a:endParaRPr lang="en-US" sz="1500" b="0" dirty="0">
                        <a:solidFill>
                          <a:srgbClr val="FF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57785" marR="57785" marT="1270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0" dirty="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6</a:t>
                      </a:r>
                      <a:endParaRPr lang="en-US" sz="1500" b="0" dirty="0">
                        <a:solidFill>
                          <a:srgbClr val="FF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57785" marR="57785" marT="12700" marB="0" anchor="ctr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4612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210</Words>
  <Application>Microsoft Office PowerPoint</Application>
  <PresentationFormat>On-screen Show (4:3)</PresentationFormat>
  <Paragraphs>28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GENERAL GUIDELINES</vt:lpstr>
      <vt:lpstr>EXCEPTIONAL CONTRIBUTOR</vt:lpstr>
    </vt:vector>
  </TitlesOfParts>
  <Company>Raymond.in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GENERAL GUIDELINES</dc:title>
  <dc:creator>Consultant - Megha Karkare</dc:creator>
  <cp:lastModifiedBy>Consultant - Megha Karkare</cp:lastModifiedBy>
  <cp:revision>1</cp:revision>
  <dcterms:created xsi:type="dcterms:W3CDTF">2019-06-10T12:23:34Z</dcterms:created>
  <dcterms:modified xsi:type="dcterms:W3CDTF">2019-06-10T12:27:02Z</dcterms:modified>
</cp:coreProperties>
</file>